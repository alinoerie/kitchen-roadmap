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400" b="1">
                <a:solidFill>
                  <a:srgbClr val="FAFAF7"/>
                </a:solidFill>
                <a:latin typeface="Cambria"/>
              </a:rPr>
              <a:t>Keukengerij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0">
                <a:solidFill>
                  <a:srgbClr val="C89860"/>
                </a:solidFill>
                <a:latin typeface="Cambria"/>
              </a:rPr>
              <a:t>0 → €10k+/maand · 90 dagen · EU10 · Dropship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FAFAF7"/>
                </a:solidFill>
                <a:latin typeface="Calibri"/>
              </a:rPr>
              <a:t>Ali · Kheibar · Farshad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89860"/>
                </a:solidFill>
                <a:latin typeface="Calibri"/>
              </a:rPr>
              <a:t>v1.0 · 2026-09-09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FAFAF7"/>
                </a:solidFill>
                <a:latin typeface="Cambria"/>
              </a:rPr>
              <a:t>Strategic Roadmap + Execution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F3D2D"/>
                </a:solidFill>
                <a:latin typeface="Cambria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566160" cy="2011680"/>
          </a:xfrm>
          <a:prstGeom prst="rect">
            <a:avLst/>
          </a:prstGeom>
          <a:solidFill>
            <a:srgbClr val="FAFAF7"/>
          </a:solidFill>
          <a:ln>
            <a:solidFill>
              <a:srgbClr val="2D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2D5A3D"/>
                </a:solidFill>
                <a:latin typeface="Cambria"/>
              </a:rPr>
              <a:t>Wat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00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Keukengerij e-commerce launch in EU10. 10 producten, gefaseerde wave-based introductie. Shopify als enige kanaal. Dropship-only fulfilment.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188720"/>
            <a:ext cx="3566160" cy="2011680"/>
          </a:xfrm>
          <a:prstGeom prst="rect">
            <a:avLst/>
          </a:prstGeom>
          <a:solidFill>
            <a:srgbClr val="FAFAF7"/>
          </a:solidFill>
          <a:ln>
            <a:solidFill>
              <a:srgbClr val="2D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2D5A3D"/>
                </a:solidFill>
                <a:latin typeface="Cambria"/>
              </a:rPr>
              <a:t>Waarom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783080"/>
            <a:ext cx="3200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HK-only seller structuur (bewust gekozen) voor tax-efficiency. Eigen merk opbouwen voor lange-termijn exit-potentieel. AI-first aanpak via Hermes.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188720"/>
            <a:ext cx="3566160" cy="2011680"/>
          </a:xfrm>
          <a:prstGeom prst="rect">
            <a:avLst/>
          </a:prstGeom>
          <a:solidFill>
            <a:srgbClr val="FAFAF7"/>
          </a:solidFill>
          <a:ln>
            <a:solidFill>
              <a:srgbClr val="2D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2D5A3D"/>
                </a:solidFill>
                <a:latin typeface="Cambria"/>
              </a:rPr>
              <a:t>Hoe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1783080"/>
            <a:ext cx="3200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Team van 3 founders (33% elk). €5-10k budget + €1000 eerste weken ad spend. 30% ACoS target. 6 fasen, 90 dagen.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3D2D"/>
                </a:solidFill>
                <a:latin typeface="Calibri"/>
              </a:rPr>
              <a:t>Targets (eerste 90 dagen)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645920" cy="36576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AFAF7"/>
                </a:solidFill>
                <a:latin typeface="Calibri"/>
              </a:rPr>
              <a:t>Doel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4114800"/>
            <a:ext cx="4023360" cy="36576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4178808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Maximaliseren (geen vast target-getal)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1645920" cy="36576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11480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AFAF7"/>
                </a:solidFill>
                <a:latin typeface="Calibri"/>
              </a:rPr>
              <a:t>ACoS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114800"/>
            <a:ext cx="4023360" cy="36576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178808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30% (break-even ROAS 3.33)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1645920" cy="36576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AFAF7"/>
                </a:solidFill>
                <a:latin typeface="Calibri"/>
              </a:rPr>
              <a:t>Retour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4572000"/>
            <a:ext cx="4023360" cy="36576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4636008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14 dgn, wij betalen retourlabel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572000"/>
            <a:ext cx="1645920" cy="36576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57200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AFAF7"/>
                </a:solidFill>
                <a:latin typeface="Calibri"/>
              </a:rPr>
              <a:t>Ad budget eerste weken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572000"/>
            <a:ext cx="4023360" cy="36576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636008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€1000 (~€35/dag)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29200"/>
            <a:ext cx="1645920" cy="36576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AFAF7"/>
                </a:solidFill>
                <a:latin typeface="Calibri"/>
              </a:rPr>
              <a:t>Customer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5029200"/>
            <a:ext cx="4023360" cy="36576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5093208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24h response, 7 talen, AI-chatbot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029200"/>
            <a:ext cx="1645920" cy="36576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029200"/>
            <a:ext cx="1645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AFAF7"/>
                </a:solidFill>
                <a:latin typeface="Calibri"/>
              </a:rPr>
              <a:t>Brand positioning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5029200"/>
            <a:ext cx="4023360" cy="36576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5093208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Mid-range met mix budget/premium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F0: Foundations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F1: Brand+Products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F2: Listings+Wave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F3: Wave 2+3+Validation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F4: Scale Winners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F3D2D"/>
                </a:solidFill>
                <a:latin typeface="Cambria"/>
              </a:rPr>
              <a:t>Team · 33% per persoon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3566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AFAF7"/>
                </a:solidFill>
                <a:latin typeface="Calibri"/>
              </a:rPr>
              <a:t>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6616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89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mbria"/>
              </a:rPr>
              <a:t>Strategie · Marketing · Content · AI-agents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Ownership: 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00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Stigma, marketing, content generation, Hermes orchestration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188720"/>
            <a:ext cx="3566160" cy="4572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207008"/>
            <a:ext cx="3566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AFAF7"/>
                </a:solidFill>
                <a:latin typeface="Calibri"/>
              </a:rPr>
              <a:t>Kheibar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645920"/>
            <a:ext cx="356616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2D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82880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2D5A3D"/>
                </a:solidFill>
                <a:latin typeface="Cambria"/>
              </a:rPr>
              <a:t>Finance · Banking · Payouts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Ownership: 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926080"/>
            <a:ext cx="3200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HK bank, WISE, Currency Ways, payment infrastructure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188720"/>
            <a:ext cx="3566160" cy="457200"/>
          </a:xfrm>
          <a:prstGeom prst="rect">
            <a:avLst/>
          </a:prstGeom>
          <a:solidFill>
            <a:srgbClr val="1F3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207008"/>
            <a:ext cx="35661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FAFAF7"/>
                </a:solidFill>
                <a:latin typeface="Calibri"/>
              </a:rPr>
              <a:t>Farshad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645920"/>
            <a:ext cx="356616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1F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1828800"/>
            <a:ext cx="3200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3D2D"/>
                </a:solidFill>
                <a:latin typeface="Cambria"/>
              </a:rPr>
              <a:t>E-com operator · Supplier netwerk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Ownership: 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2926080"/>
            <a:ext cx="3200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Dropship supplier in China, quality check, designer (zijn team)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F0: Foundations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F1: Brand+Products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F2: Listings+Wave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F3: Wave 2+3+Validation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F4: Scale Winners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F3D2D"/>
                </a:solidFill>
                <a:latin typeface="Cambria"/>
              </a:rPr>
              <a:t>Product Strategy · 10 keukengerij SKU's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D5A3D"/>
                </a:solidFill>
                <a:latin typeface="Calibri"/>
              </a:rPr>
              <a:t>Wave-based launch · 3-4 producten per wave · 14-dgn test cyclus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2286000"/>
          </a:xfrm>
          <a:prstGeom prst="rect">
            <a:avLst/>
          </a:prstGeom>
          <a:solidFill>
            <a:srgbClr val="FAFAF7"/>
          </a:solidFill>
          <a:ln>
            <a:solidFill>
              <a:srgbClr val="C89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66160" cy="45720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566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AFAF7"/>
                </a:solidFill>
                <a:latin typeface="Calibri"/>
              </a:rPr>
              <a:t>Wave 1 · D20-D35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C89860"/>
                </a:solidFill>
                <a:latin typeface="Calibri"/>
              </a:rPr>
              <a:t>3-4 SKUs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00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Eerste validatie, kill losers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828800"/>
            <a:ext cx="3566160" cy="2286000"/>
          </a:xfrm>
          <a:prstGeom prst="rect">
            <a:avLst/>
          </a:prstGeom>
          <a:solidFill>
            <a:srgbClr val="FAFAF7"/>
          </a:solidFill>
          <a:ln>
            <a:solidFill>
              <a:srgbClr val="2D5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828800"/>
            <a:ext cx="3566160" cy="4572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874519"/>
            <a:ext cx="3566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AFAF7"/>
                </a:solidFill>
                <a:latin typeface="Calibri"/>
              </a:rPr>
              <a:t>Wave 2 · D40-D55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46888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2D5A3D"/>
                </a:solidFill>
                <a:latin typeface="Calibri"/>
              </a:rPr>
              <a:t>3-4 nieuwe SKUs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108960"/>
            <a:ext cx="3200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Anders segment dan W1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828800"/>
            <a:ext cx="3566160" cy="2286000"/>
          </a:xfrm>
          <a:prstGeom prst="rect">
            <a:avLst/>
          </a:prstGeom>
          <a:solidFill>
            <a:srgbClr val="FAFAF7"/>
          </a:solidFill>
          <a:ln>
            <a:solidFill>
              <a:srgbClr val="1F3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566160" cy="457200"/>
          </a:xfrm>
          <a:prstGeom prst="rect">
            <a:avLst/>
          </a:prstGeom>
          <a:solidFill>
            <a:srgbClr val="1F3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874519"/>
            <a:ext cx="35661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AFAF7"/>
                </a:solidFill>
                <a:latin typeface="Calibri"/>
              </a:rPr>
              <a:t>Wave 3 · D51-D65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46888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1F3D2D"/>
                </a:solidFill>
                <a:latin typeface="Calibri"/>
              </a:rPr>
              <a:t>3-4 final SKUs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108960"/>
            <a:ext cx="3200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Portfolio compleet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D5A3D"/>
                </a:solidFill>
                <a:latin typeface="Calibri"/>
              </a:rPr>
              <a:t>Pricing strategie · Mid-range met mix budget/premium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3566160" cy="137160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3D2D"/>
                </a:solidFill>
                <a:latin typeface="Calibri"/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C89860"/>
                </a:solidFill>
                <a:latin typeface="Calibri"/>
              </a:rPr>
              <a:t>€15-25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Gadgets, tools, messensets &lt;€30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4937760"/>
            <a:ext cx="3566160" cy="137160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50292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3D2D"/>
                </a:solidFill>
                <a:latin typeface="Calibri"/>
              </a:rPr>
              <a:t>Mid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4406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C89860"/>
                </a:solidFill>
                <a:latin typeface="Calibri"/>
              </a:rPr>
              <a:t>€30-50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897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Pannen, snijplanken, keukensets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4937760"/>
            <a:ext cx="3566160" cy="137160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50292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3D2D"/>
                </a:solidFill>
                <a:latin typeface="Calibri"/>
              </a:rPr>
              <a:t>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54406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C89860"/>
                </a:solidFill>
                <a:latin typeface="Calibri"/>
              </a:rPr>
              <a:t>€50-80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5897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High-end messen, speciale pannen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F0: Foundations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F1: Brand+Products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F2: Listings+Wave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F3: Wave 2+3+Validation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F4: Scale Winners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F3D2D"/>
                </a:solidFill>
                <a:latin typeface="Cambria"/>
              </a:rPr>
              <a:t>Channels · EU10 · Multi-language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6400800" cy="22860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035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Hoofdkanaal (90 dagen)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035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FAFAF7"/>
                </a:solidFill>
                <a:latin typeface="Cambria"/>
              </a:rPr>
              <a:t>Shopify webshop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60350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FAFAF7"/>
                </a:solidFill>
                <a:latin typeface="Calibri"/>
              </a:rPr>
              <a:t>Multi-currency · Multi-language · Dropship-only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188720"/>
            <a:ext cx="4297680" cy="228600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3716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A6A6A"/>
                </a:solidFill>
                <a:latin typeface="Calibri"/>
              </a:rPr>
              <a:t>UITGESLOTEN in 90 dagen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874519"/>
            <a:ext cx="182880" cy="1828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28799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TikTok Shop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194559"/>
            <a:ext cx="182880" cy="1828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148839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Marktplaats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514599"/>
            <a:ext cx="182880" cy="1828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468879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Amazon EU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834639"/>
            <a:ext cx="182880" cy="1828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8919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bol.com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3154679"/>
            <a:ext cx="182880" cy="1828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108959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Etsy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D5A3D"/>
                </a:solidFill>
                <a:latin typeface="Calibri"/>
              </a:rPr>
              <a:t>EU10 markten (Amazon EU set)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NL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429768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429768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BE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29768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29768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429768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429768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FR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429768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429768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93776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493776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493776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PL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493776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93776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493776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493776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IE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4937760"/>
            <a:ext cx="2103120" cy="54864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0" y="4937760"/>
            <a:ext cx="21031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AFAF7"/>
                </a:solidFill>
                <a:latin typeface="Calibri"/>
              </a:rPr>
              <a:t>CZ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A6A6A"/>
                </a:solidFill>
                <a:latin typeface="Calibri"/>
              </a:rPr>
              <a:t>Talen: NL · EN · DE · FR · IT · ES · PL (+ meer via AI vertaling)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F0: Foundations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F1: Brand+Products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F2: Listings+Wave 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F3: Wave 2+3+Validation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F4: Scale Winners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8A4520"/>
                </a:solidFill>
                <a:latin typeface="Cambria"/>
              </a:rPr>
              <a:t>⚠️ Compliance Disclosure · HK-only seller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Jullie hebben expliciet gekozen voor een HK-bedrijf als enige seller.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Dit brengt bekende risico's met zich mee. Mitigatie in de roadmap.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74320" cy="6400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3D2D"/>
                </a:solidFill>
                <a:latin typeface="Calibri"/>
              </a:rPr>
              <a:t>GPSR Responsible 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Extern service (~€50-150/SKU/jaar)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274320" cy="6400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3D2D"/>
                </a:solidFill>
                <a:latin typeface="Calibri"/>
              </a:rPr>
              <a:t>Douane / Btw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Klanten kunnen btw-verrassingen krijgen bij import (geen IOSS)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274320" cy="6400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3D2D"/>
                </a:solidFill>
                <a:latin typeface="Calibri"/>
              </a:rPr>
              <a:t>NL-belastingdienst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DAC7 reporting via Shopify/Meta/WISE — wereldwijd inkomen belastbaar omdat Ali fiscaal inwoner NL 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274320" cy="640080"/>
          </a:xfrm>
          <a:prstGeom prst="rect">
            <a:avLst/>
          </a:prstGeom>
          <a:solidFill>
            <a:srgbClr val="8A4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3D2D"/>
                </a:solidFill>
                <a:latin typeface="Calibri"/>
              </a:rPr>
              <a:t>Productaansprakelijkheid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43484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Blijft gelden ongeacht seller-land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12080"/>
            <a:ext cx="274320" cy="6400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F3D2D"/>
                </a:solidFill>
                <a:latin typeface="Calibri"/>
              </a:rPr>
              <a:t>AVB verzekering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12080"/>
            <a:ext cx="6858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Aanbevolen voor keuken-producten (food contact)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3D2D"/>
                </a:solidFill>
                <a:latin typeface="Calibri"/>
              </a:rPr>
              <a:t>Aanbeveling: NL-belastingadviseur voor DAC7 compliance monitoring (jaarlijks, niet in 90-dgn roadmap)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640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AFAF7"/>
                </a:solidFill>
                <a:latin typeface="Calibri"/>
              </a:rPr>
              <a:t>F0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D2D"/>
                </a:solidFill>
                <a:latin typeface="Calibri"/>
              </a:rP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8580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D-7 → D0 · doel: HK live, Shopify opgezet, design klaar, alle infra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37160" cy="137160"/>
          </a:xfrm>
          <a:prstGeom prst="rect">
            <a:avLst/>
          </a:prstGeom>
          <a:solidFill>
            <a:srgbClr val="6A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HK bank account aanmaken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8AAA"/>
                </a:solidFill>
                <a:latin typeface="Calibri"/>
              </a:rPr>
              <a:t>Kheibar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3716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vrijdag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47088"/>
            <a:ext cx="137160" cy="137160"/>
          </a:xfrm>
          <a:prstGeom prst="rect">
            <a:avLst/>
          </a:prstGeom>
          <a:solidFill>
            <a:srgbClr val="6A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55648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WISE + Currency Ways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55648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8AAA"/>
                </a:solidFill>
                <a:latin typeface="Calibri"/>
              </a:rPr>
              <a:t>Kheibar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75564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vrijdag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31136"/>
            <a:ext cx="137160" cy="137160"/>
          </a:xfrm>
          <a:prstGeom prst="rect">
            <a:avLst/>
          </a:prstGeom>
          <a:solidFill>
            <a:srgbClr val="6A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39696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HK bedrijf oprichten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39696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8AAA"/>
                </a:solidFill>
                <a:latin typeface="Calibri"/>
              </a:rPr>
              <a:t>Kheibar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39696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vrijdag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15184"/>
            <a:ext cx="137160" cy="137160"/>
          </a:xfrm>
          <a:prstGeom prst="rect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523744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Shopify master + Markets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523744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8A6AAA"/>
                </a:solidFill>
                <a:latin typeface="Calibri"/>
              </a:rPr>
              <a:t>Farshad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52374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99232"/>
            <a:ext cx="137160" cy="137160"/>
          </a:xfrm>
          <a:prstGeom prst="rect">
            <a:avLst/>
          </a:prstGeom>
          <a:solidFill>
            <a:srgbClr val="A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907792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Custom theme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907792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AA6A8A"/>
                </a:solidFill>
                <a:latin typeface="Calibri"/>
              </a:rPr>
              <a:t>Designer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907792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D-5 → D-1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383280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29184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GPSR Responsible Person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2918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29184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D-5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67328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675888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Privacy + Cookie + Terms + Returns policies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675888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67588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D-3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51376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059936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Shopify Inbox + chatbot widget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059936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59936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D-2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535424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443984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GA4 + Meta Pixel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443984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44398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D-2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919472"/>
            <a:ext cx="137160" cy="137160"/>
          </a:xfrm>
          <a:prstGeom prst="rect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828032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Introductie Farshad's China supplier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8A6AAA"/>
                </a:solidFill>
                <a:latin typeface="Calibri"/>
              </a:rPr>
              <a:t>Farshad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828032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F0: Foundations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F1: Brand+Products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F2: Listings+Wave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F3: Wave 2+3+Validation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F4: Scale Winners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640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AFAF7"/>
                </a:solidFill>
                <a:latin typeface="Calibri"/>
              </a:rPr>
              <a:t>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D2D"/>
                </a:solidFill>
                <a:latin typeface="Calibri"/>
              </a:rPr>
              <a:t>Brand + Product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8580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D0 → D14 · doel: Brand naam, logo, 10 producten, listings in voorbereiding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Brand voice document (Ali)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2801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09344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Brand naam brainstorm (60 namen)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09344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0934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D0-D1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11680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38528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EUIPO + WIPO trademark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938528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93852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40864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267712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Brand naam lock-in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267712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267712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70048"/>
            <a:ext cx="137160" cy="137160"/>
          </a:xfrm>
          <a:prstGeom prst="rect">
            <a:avLst/>
          </a:prstGeom>
          <a:solidFill>
            <a:srgbClr val="A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596896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Logo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596896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AA6A8A"/>
                </a:solidFill>
                <a:latin typeface="Calibri"/>
              </a:rPr>
              <a:t>Designer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596896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D2-D5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99923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92608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Product onderzoek (10 producten)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9260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92608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vrijdag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328416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255264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Pain/Diff/Ad-ability score ×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55264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25526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657600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584448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Amazon scrape (per segment)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584448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58444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86784"/>
            <a:ext cx="137160" cy="137160"/>
          </a:xfrm>
          <a:prstGeom prst="rect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13632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Supplier shortlist per SKU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13632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A6AAA"/>
                </a:solidFill>
                <a:latin typeface="Calibri"/>
              </a:rPr>
              <a:t>Farshad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913632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D3-D5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315968"/>
            <a:ext cx="137160" cy="137160"/>
          </a:xfrm>
          <a:prstGeom prst="rect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242816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Sample aanvragen × 10 SKUs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242816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A6AAA"/>
                </a:solidFill>
                <a:latin typeface="Calibri"/>
              </a:rPr>
              <a:t>Farshad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242816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45152"/>
            <a:ext cx="137160" cy="137160"/>
          </a:xfrm>
          <a:prstGeom prst="rect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57200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Sample quality 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5720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A6AAA"/>
                </a:solidFill>
                <a:latin typeface="Calibri"/>
              </a:rPr>
              <a:t>Farshad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5720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D10-D14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974336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901184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Per-product compliance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901184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90118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303520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230368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GPSR × 10 SKUs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5230368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23036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632704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5559552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Product page copy ×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5559552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559552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D10-D14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F0: Foundations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F1: Brand+Products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F2: Listings+Wave 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F3: Wave 2+3+Validation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F4: Scale Winners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640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AFAF7"/>
                </a:solidFill>
                <a:latin typeface="Calibri"/>
              </a:rPr>
              <a:t>F2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D2D"/>
                </a:solidFill>
                <a:latin typeface="Calibri"/>
              </a:rPr>
              <a:t>Listings + Wave 1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8580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D14 → D35 · doel: 10 listings live, Wave 1 eerste 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137160" cy="137160"/>
          </a:xfrm>
          <a:prstGeom prst="rect">
            <a:avLst/>
          </a:prstGeom>
          <a:solidFill>
            <a:srgbClr val="A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Product photos × 10 SKUs (5-8/product)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AA6A8A"/>
                </a:solidFill>
                <a:latin typeface="Calibri"/>
              </a:rPr>
              <a:t>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2801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D14-D18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19072"/>
            <a:ext cx="137160" cy="137160"/>
          </a:xfrm>
          <a:prstGeom prst="rect">
            <a:avLst/>
          </a:prstGeom>
          <a:solidFill>
            <a:srgbClr val="A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4592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Product videos × 10 SKUs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459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AA6A8A"/>
                </a:solidFill>
                <a:latin typeface="Calibri"/>
              </a:rPr>
              <a:t>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459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D15-D20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84832"/>
            <a:ext cx="137160" cy="137160"/>
          </a:xfrm>
          <a:prstGeom prst="rect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Listings live ×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0116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A6AAA"/>
                </a:solidFill>
                <a:latin typeface="Calibri"/>
              </a:rPr>
              <a:t>Farshad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1168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5059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37744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Pricing per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774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37744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16352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74320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FAQ × 10 SKUs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7432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7432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821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1089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Wave 1 selectie (3-4 SKUs)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1089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089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4787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47472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UGC + AI Higgsfield × 10/SKU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4747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4747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D20-D24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1363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84048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Meta Ads Wave 1 launch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8404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4048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27939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20624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Google Ads Wave 1 launch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206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20624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64515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57200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Email flows 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5720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5720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010912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9377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Daily metrics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9377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9377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37667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30352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Wave 1 review (D+14)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53035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303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D39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F0: Foundations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F1: Brand+Products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F2: Listings+Wave 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F3: Wave 2+3+Validation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F4: Scale Winners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640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AFAF7"/>
                </a:solidFill>
                <a:latin typeface="Calibri"/>
              </a:rPr>
              <a:t>F3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D2D"/>
                </a:solidFill>
                <a:latin typeface="Calibri"/>
              </a:rPr>
              <a:t>Wave 2 + Wave 3 +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8580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D35 → D65 · doel: Alle 3 waves getest, winners geïdentificeerd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Wave 2 selectie + listings + video's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801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Ali/Farshad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28016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D40-D44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Wave 2 ads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64592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Wave 2 review (D+14)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01168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Wave 3 selectie + listings + video's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Ali/Farshad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3774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D51-D55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4320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Wave 3 ads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7432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Wave 3 review (D+14)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10896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747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Kill rules automation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747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Hermes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47472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048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Per-SKU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Hermes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84048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0624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Cohort analysis tooling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06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Hermes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20624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57200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Customer survey NPS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720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45720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3776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Weekly review meetings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9377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93776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D36+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303520"/>
            <a:ext cx="7772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Decision log per SKU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3035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530352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D36+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F0: Foundations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F1: Brand+Products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F2: Listings+Wave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F3: Wave 2+3+Validation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F4: Scale Winners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640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AFAF7"/>
                </a:solidFill>
                <a:latin typeface="Calibri"/>
              </a:rPr>
              <a:t>F4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D2D"/>
                </a:solidFill>
                <a:latin typeface="Calibri"/>
              </a:rPr>
              <a:t>Scale Winners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8580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D65 → D85 · doel: Budget omhoog op winners, repeat halo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Winners definitief (3 SKUs)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2801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1907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4592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Scale budget €100/dag/winner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459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459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8483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01168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Lookalikes op kopers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0116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1168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D68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5059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37744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Creative refresh elke 14 dgn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774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37744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D70+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1635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74320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Google PMax 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7432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7432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D72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821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1089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Email flow post-purchase upsell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1089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089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4787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47472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Email flow win-back (60d)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4747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4747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1363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84048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Bundle pricing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8404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84048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D75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279392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20624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Cross-SKU recommendations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2062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20624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645152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57200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LTV:CAC dashboard per channel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57200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57200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D78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010912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9377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Repeat-buyer cohort analyse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9377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9377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376672"/>
            <a:ext cx="137160" cy="137160"/>
          </a:xfrm>
          <a:prstGeom prst="rect">
            <a:avLst/>
          </a:prstGeom>
          <a:solidFill>
            <a:srgbClr val="6A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30352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Cash forecast 4-weken runway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53035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8AAA"/>
                </a:solidFill>
                <a:latin typeface="Calibri"/>
              </a:rPr>
              <a:t>Kheibar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303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F0: Foundations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F1: Brand+Products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F2: Listings+Wave 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F3: Wave 2+3+Validation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F4: Scale Winners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FAFAF7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6A6A6A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640080" cy="45720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6400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AFAF7"/>
                </a:solidFill>
                <a:latin typeface="Calibri"/>
              </a:rPr>
              <a:t>F5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1F3D2D"/>
                </a:solidFill>
                <a:latin typeface="Calibri"/>
              </a:rPr>
              <a:t>Lock + Optimize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8580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A6A6A"/>
                </a:solidFill>
                <a:latin typeface="Calibri"/>
              </a:rPr>
              <a:t>D85 → D90 · doel: Optimalisaties, documentatie, exit-potentieel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Eindstand metrics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2801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105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Lessons learned 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373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7373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67712"/>
            <a:ext cx="137160" cy="137160"/>
          </a:xfrm>
          <a:prstGeom prst="rect">
            <a:avLst/>
          </a:prstGeom>
          <a:solidFill>
            <a:srgbClr val="4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945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Updated roadmap v2.0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945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4A8A6A"/>
                </a:solidFill>
                <a:latin typeface="Calibri"/>
              </a:rPr>
              <a:t>Hermes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945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24912"/>
            <a:ext cx="137160" cy="137160"/>
          </a:xfrm>
          <a:prstGeom prst="rect">
            <a:avLst/>
          </a:prstGeom>
          <a:solidFill>
            <a:srgbClr val="8A6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6517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Supplier scorecard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6517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A6AAA"/>
                </a:solidFill>
                <a:latin typeface="Calibri"/>
              </a:rPr>
              <a:t>Farshad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6517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821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1089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Customer feedback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1089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1089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393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5661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Compliance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5661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5661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96512"/>
            <a:ext cx="137160" cy="137160"/>
          </a:xfrm>
          <a:prstGeom prst="rect">
            <a:avLst/>
          </a:prstGeom>
          <a:solidFill>
            <a:srgbClr val="6A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233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Financial close-out (90 dgn P&amp;L)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0233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A8AAA"/>
                </a:solidFill>
                <a:latin typeface="Calibri"/>
              </a:rPr>
              <a:t>Kheibar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0233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537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4805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Exit-potentieel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4805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4805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D90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109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9377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NL-belastingadvies 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9377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9377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D90+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468112"/>
            <a:ext cx="137160" cy="137160"/>
          </a:xfrm>
          <a:prstGeom prst="rect">
            <a:avLst/>
          </a:prstGeom>
          <a:solidFill>
            <a:srgbClr val="C89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39496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Influencer strategy (post-90)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39496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89860"/>
                </a:solidFill>
                <a:latin typeface="Calibri"/>
              </a:rPr>
              <a:t>Ali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539496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A6A6A"/>
                </a:solidFill>
                <a:latin typeface="Calibri"/>
              </a:rPr>
              <a:t>D90+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F0: Foundations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F1: Brand+Products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F2: Listings+Wave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F3: Wave 2+3+Validation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F4: Scale Winners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F3D2D"/>
                </a:solidFill>
                <a:latin typeface="Cambria"/>
              </a:rPr>
              <a:t>Recurring Operations · Dagelijks ritme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Dagelijks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Morning metrics (Hermes cron)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Sys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1887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Telegram digest 06:30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09:00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4592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Customer service sweep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Ali/Kheibar/Farshad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Shopify Inbox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12:00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0312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Trend-spotting + content scroll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TikTok/IG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18:00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56032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Content post (1 video/brand)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5603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Multi-language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21:00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01752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EOD notes deposit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17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Hermes eod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7472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22:00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474720"/>
            <a:ext cx="4114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Review queue (5/brand)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4747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4747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6A6A6A"/>
                </a:solidFill>
                <a:latin typeface="Calibri"/>
              </a:rPr>
              <a:t>Shopify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D5A3D"/>
                </a:solidFill>
                <a:latin typeface="Calibri"/>
              </a:rPr>
              <a:t>Wekelijks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6344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D5A3D"/>
                </a:solidFill>
                <a:latin typeface="Calibri"/>
              </a:rPr>
              <a:t>Ma 08:00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66344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Auto-sourcing bottom-5 vervangen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66344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6A6A"/>
                </a:solidFill>
                <a:latin typeface="Calibri"/>
              </a:rPr>
              <a:t>Sys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910328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D5A3D"/>
                </a:solidFill>
                <a:latin typeface="Calibri"/>
              </a:rPr>
              <a:t>Di 14:00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910328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Weekly review (Ali + Kheibar + Farshad)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91032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57216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D5A3D"/>
                </a:solidFill>
                <a:latin typeface="Calibri"/>
              </a:rPr>
              <a:t>Wo 10:00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157216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Ad-budget + bid adjustments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157216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6A6A"/>
                </a:solidFill>
                <a:latin typeface="Calibri"/>
              </a:rPr>
              <a:t>Ali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04104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D5A3D"/>
                </a:solidFill>
                <a:latin typeface="Calibri"/>
              </a:rPr>
              <a:t>Wo 16:00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404104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Supplier check-in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404104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6A6A"/>
                </a:solidFill>
                <a:latin typeface="Calibri"/>
              </a:rPr>
              <a:t>Farshad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650992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D5A3D"/>
                </a:solidFill>
                <a:latin typeface="Calibri"/>
              </a:rPr>
              <a:t>Vr 14:00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650992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Bulk order decisions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650992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6A6A"/>
                </a:solidFill>
                <a:latin typeface="Calibri"/>
              </a:rPr>
              <a:t>Farshad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97880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D5A3D"/>
                </a:solidFill>
                <a:latin typeface="Calibri"/>
              </a:rPr>
              <a:t>Vr 16:00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897880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Cash forecast update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89788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6A6A"/>
                </a:solidFill>
                <a:latin typeface="Calibri"/>
              </a:rPr>
              <a:t>Kheibar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144768"/>
            <a:ext cx="1371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D5A3D"/>
                </a:solidFill>
                <a:latin typeface="Calibri"/>
              </a:rPr>
              <a:t>Zo 21:00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6144768"/>
            <a:ext cx="6400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Weekly Telegram digest (auto)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144768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A6A6A"/>
                </a:solidFill>
                <a:latin typeface="Calibri"/>
              </a:rPr>
              <a:t>Sys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14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1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F0: Foundations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6966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6966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F1: Brand+Products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4418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4418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F2: Listings+Wave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1870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1870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F3: Wave 2+3+Validation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93227" y="6446520"/>
            <a:ext cx="1828800" cy="320040"/>
          </a:xfrm>
          <a:prstGeom prst="rect">
            <a:avLst/>
          </a:prstGeom>
          <a:solidFill>
            <a:srgbClr val="2D5A3D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9322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AFAF7"/>
                </a:solidFill>
                <a:latin typeface="Calibri"/>
              </a:rPr>
              <a:t>F4: Scale Winners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67747" y="6446520"/>
            <a:ext cx="1828800" cy="320040"/>
          </a:xfrm>
          <a:prstGeom prst="rect">
            <a:avLst/>
          </a:prstGeom>
          <a:solidFill>
            <a:srgbClr val="C89860"/>
          </a:solidFill>
          <a:ln>
            <a:solidFill>
              <a:srgbClr val="6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67747" y="6483096"/>
            <a:ext cx="18288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1">
                <a:solidFill>
                  <a:srgbClr val="1F3D2D"/>
                </a:solidFill>
                <a:latin typeface="Calibri"/>
              </a:rPr>
              <a:t>F5: Lock+Optimize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1F3D2D"/>
                </a:solidFill>
                <a:latin typeface="Cambria"/>
              </a:rPr>
              <a:t>Next Steps · Eerste 14 dagen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vrijdag 12 sept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8872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HK entity + bank + WISE + Currency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Kheibar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vrijdag 12 sept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69164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Product research (10 producten)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916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vrijdag 12 sept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9456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Brand naam input delen met Hermes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1945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ma 15 sept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9748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Introductie Farshad's China supplier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6974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Farshad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D-7 (zondag)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0040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Shopify master + Markets setup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20040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Farshad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D-5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70332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GPSR Responsible Person service kiezen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70332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D-5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20624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Trademark search (vóór naam lock-in)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20624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D-2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70916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Compliance disclosure met Kheibar + Farshad reviewen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7091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Allen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120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89860"/>
                </a:solidFill>
                <a:latin typeface="Calibri"/>
              </a:rPr>
              <a:t>D0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212080"/>
            <a:ext cx="6858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GO/NO-GO 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21208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D5A3D"/>
                </a:solidFill>
                <a:latin typeface="Calibri"/>
              </a:rPr>
              <a:t>Allen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solidFill>
            <a:srgbClr val="2D5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AFAF7"/>
                </a:solidFill>
                <a:latin typeface="Calibri"/>
              </a:rPr>
              <a:t>📱 Companion webapp: Vercel-deployed voor live tracking per owner +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AFAF7"/>
                </a:solidFill>
                <a:latin typeface="Calibri"/>
              </a:rPr>
              <a:t>Filters per Ali/Kheibar/Farshad/Designer/Hermes · Status checkboxes · Comments per taak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